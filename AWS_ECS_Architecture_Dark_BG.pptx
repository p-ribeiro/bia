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mazon Ember"/>
              </a:rPr>
              <a:t>AWS ECS Architecture - High Availability with ALB &amp; NAT Gateway</a:t>
            </a:r>
          </a:p>
        </p:txBody>
      </p:sp>
      <p:sp>
        <p:nvSpPr>
          <p:cNvPr id="12" name="AWS Cloud"/>
          <p:cNvSpPr/>
          <p:nvPr/>
        </p:nvSpPr>
        <p:spPr>
          <a:xfrm>
            <a:off x="365760" y="731520"/>
            <a:ext cx="11430000" cy="5852160"/>
          </a:xfrm>
          <a:prstGeom prst="roundRect">
            <a:avLst>
              <a:gd name="adj" fmla="val 3000"/>
            </a:avLst>
          </a:prstGeom>
          <a:noFill/>
          <a:ln w="25400">
            <a:solidFill>
              <a:srgbClr val="FF9900"/>
            </a:solidFill>
            <a:prstDash val="dash"/>
          </a:ln>
        </p:spPr>
        <p:txBody>
          <a:bodyPr anchor="t" anchorCtr="0" lIns="91440" tIns="45720" rIns="91440" bIns="45720"/>
          <a:lstStyle/>
          <a:p>
            <a:endParaRPr lang="en-US"/>
          </a:p>
        </p:txBody>
      </p:sp>
      <p:sp>
        <p:nvSpPr>
          <p:cNvPr id="13" name="cloud_label"/>
          <p:cNvSpPr txBox="1"/>
          <p:nvPr/>
        </p:nvSpPr>
        <p:spPr>
          <a:xfrm>
            <a:off x="548640" y="7772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1100" b="1" dirty="0">
                <a:solidFill>
                  <a:srgbClr val="FF9900"/>
                </a:solidFill>
                <a:latin typeface="Amazon Ember"/>
              </a:rPr>
              <a:t>AWS Cloud</a:t>
            </a:r>
          </a:p>
        </p:txBody>
      </p:sp>
      <p:sp>
        <p:nvSpPr>
          <p:cNvPr id="15" name="VPC"/>
          <p:cNvSpPr/>
          <p:nvPr/>
        </p:nvSpPr>
        <p:spPr>
          <a:xfrm>
            <a:off x="1645920" y="1371600"/>
            <a:ext cx="9601200" cy="5029200"/>
          </a:xfrm>
          <a:prstGeom prst="roundRect">
            <a:avLst>
              <a:gd name="adj" fmla="val 3000"/>
            </a:avLst>
          </a:prstGeom>
          <a:noFill/>
          <a:ln w="25400">
            <a:solidFill>
              <a:srgbClr val="1A8542"/>
            </a:solidFill>
          </a:ln>
        </p:spPr>
        <p:txBody>
          <a:bodyPr anchor="t" anchorCtr="0" lIns="91440" tIns="45720" rIns="91440" bIns="45720"/>
          <a:lstStyle/>
          <a:p>
            <a:endParaRPr lang="en-US"/>
          </a:p>
        </p:txBody>
      </p:sp>
      <p:sp>
        <p:nvSpPr>
          <p:cNvPr id="16" name="vpc_label"/>
          <p:cNvSpPr txBox="1"/>
          <p:nvPr/>
        </p:nvSpPr>
        <p:spPr>
          <a:xfrm>
            <a:off x="1783080" y="14173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1000" b="1" dirty="0">
                <a:solidFill>
                  <a:srgbClr val="1A8542"/>
                </a:solidFill>
                <a:latin typeface="Amazon Ember"/>
              </a:rPr>
              <a:t>VPC (10.0.0.0/16)</a:t>
            </a:r>
          </a:p>
        </p:txBody>
      </p:sp>
      <p:sp>
        <p:nvSpPr>
          <p:cNvPr id="18" name="AZ1"/>
          <p:cNvSpPr/>
          <p:nvPr/>
        </p:nvSpPr>
        <p:spPr>
          <a:xfrm>
            <a:off x="1828800" y="1828800"/>
            <a:ext cx="4480560" cy="438912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147EBA"/>
            </a:solidFill>
            <a:prstDash val="dash"/>
          </a:ln>
        </p:spPr>
        <p:txBody>
          <a:bodyPr anchor="t" anchorCtr="0" lIns="91440" tIns="45720" rIns="91440" bIns="45720"/>
          <a:lstStyle/>
          <a:p>
            <a:endParaRPr lang="en-US"/>
          </a:p>
        </p:txBody>
      </p:sp>
      <p:sp>
        <p:nvSpPr>
          <p:cNvPr id="19" name="az1_label"/>
          <p:cNvSpPr txBox="1"/>
          <p:nvPr/>
        </p:nvSpPr>
        <p:spPr>
          <a:xfrm>
            <a:off x="1920240" y="1874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900" b="1" dirty="0">
                <a:solidFill>
                  <a:srgbClr val="147EBA"/>
                </a:solidFill>
                <a:latin typeface="Amazon Ember"/>
              </a:rPr>
              <a:t>Availability Zone 1</a:t>
            </a:r>
          </a:p>
        </p:txBody>
      </p:sp>
      <p:sp>
        <p:nvSpPr>
          <p:cNvPr id="21" name="AZ2"/>
          <p:cNvSpPr/>
          <p:nvPr/>
        </p:nvSpPr>
        <p:spPr>
          <a:xfrm>
            <a:off x="6492240" y="1828800"/>
            <a:ext cx="4480560" cy="438912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147EBA"/>
            </a:solidFill>
            <a:prstDash val="dash"/>
          </a:ln>
        </p:spPr>
        <p:txBody>
          <a:bodyPr anchor="t" anchorCtr="0" lIns="91440" tIns="45720" rIns="91440" bIns="45720"/>
          <a:lstStyle/>
          <a:p>
            <a:endParaRPr lang="en-US"/>
          </a:p>
        </p:txBody>
      </p:sp>
      <p:sp>
        <p:nvSpPr>
          <p:cNvPr id="22" name="az2_label"/>
          <p:cNvSpPr txBox="1"/>
          <p:nvPr/>
        </p:nvSpPr>
        <p:spPr>
          <a:xfrm>
            <a:off x="6583680" y="1874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900" b="1" dirty="0">
                <a:solidFill>
                  <a:srgbClr val="147EBA"/>
                </a:solidFill>
                <a:latin typeface="Amazon Ember"/>
              </a:rPr>
              <a:t>Availability Zone 2</a:t>
            </a:r>
          </a:p>
        </p:txBody>
      </p:sp>
      <p:sp>
        <p:nvSpPr>
          <p:cNvPr id="24" name="PublicSubnet1"/>
          <p:cNvSpPr/>
          <p:nvPr/>
        </p:nvSpPr>
        <p:spPr>
          <a:xfrm>
            <a:off x="1965960" y="2240280"/>
            <a:ext cx="4206240" cy="1645920"/>
          </a:xfrm>
          <a:prstGeom prst="roundRect">
            <a:avLst>
              <a:gd name="adj" fmla="val 3000"/>
            </a:avLst>
          </a:prstGeom>
          <a:solidFill>
            <a:srgbClr val="1A8542">
              <a:alpha val="15000"/>
            </a:srgbClr>
          </a:solidFill>
          <a:ln w="12700">
            <a:solidFill>
              <a:srgbClr val="1A8542"/>
            </a:solidFill>
          </a:ln>
        </p:spPr>
        <p:txBody>
          <a:bodyPr anchor="t" anchorCtr="0" lIns="91440" tIns="45720" rIns="91440" bIns="45720"/>
          <a:lstStyle/>
          <a:p>
            <a:endParaRPr lang="en-US"/>
          </a:p>
        </p:txBody>
      </p:sp>
      <p:sp>
        <p:nvSpPr>
          <p:cNvPr id="25" name="pub1_label"/>
          <p:cNvSpPr txBox="1"/>
          <p:nvPr/>
        </p:nvSpPr>
        <p:spPr>
          <a:xfrm>
            <a:off x="2057400" y="2286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800" b="1" dirty="0">
                <a:solidFill>
                  <a:srgbClr val="1A8542"/>
                </a:solidFill>
                <a:latin typeface="Amazon Ember"/>
              </a:rPr>
              <a:t>Public Subnet</a:t>
            </a:r>
          </a:p>
        </p:txBody>
      </p:sp>
      <p:sp>
        <p:nvSpPr>
          <p:cNvPr id="27" name="PublicSubnet2"/>
          <p:cNvSpPr/>
          <p:nvPr/>
        </p:nvSpPr>
        <p:spPr>
          <a:xfrm>
            <a:off x="6629400" y="2240280"/>
            <a:ext cx="4206240" cy="1645920"/>
          </a:xfrm>
          <a:prstGeom prst="roundRect">
            <a:avLst>
              <a:gd name="adj" fmla="val 3000"/>
            </a:avLst>
          </a:prstGeom>
          <a:solidFill>
            <a:srgbClr val="1A8542">
              <a:alpha val="15000"/>
            </a:srgbClr>
          </a:solidFill>
          <a:ln w="12700">
            <a:solidFill>
              <a:srgbClr val="1A8542"/>
            </a:solidFill>
          </a:ln>
        </p:spPr>
        <p:txBody>
          <a:bodyPr anchor="t" anchorCtr="0" lIns="91440" tIns="45720" rIns="91440" bIns="45720"/>
          <a:lstStyle/>
          <a:p>
            <a:endParaRPr lang="en-US"/>
          </a:p>
        </p:txBody>
      </p:sp>
      <p:sp>
        <p:nvSpPr>
          <p:cNvPr id="28" name="pub2_label"/>
          <p:cNvSpPr txBox="1"/>
          <p:nvPr/>
        </p:nvSpPr>
        <p:spPr>
          <a:xfrm>
            <a:off x="6720840" y="2286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800" b="1" dirty="0">
                <a:solidFill>
                  <a:srgbClr val="1A8542"/>
                </a:solidFill>
                <a:latin typeface="Amazon Ember"/>
              </a:rPr>
              <a:t>Public Subnet</a:t>
            </a:r>
          </a:p>
        </p:txBody>
      </p:sp>
      <p:sp>
        <p:nvSpPr>
          <p:cNvPr id="30" name="PrivateSubnet1"/>
          <p:cNvSpPr/>
          <p:nvPr/>
        </p:nvSpPr>
        <p:spPr>
          <a:xfrm>
            <a:off x="1965960" y="4069080"/>
            <a:ext cx="4206240" cy="1920240"/>
          </a:xfrm>
          <a:prstGeom prst="roundRect">
            <a:avLst>
              <a:gd name="adj" fmla="val 3000"/>
            </a:avLst>
          </a:prstGeom>
          <a:solidFill>
            <a:srgbClr val="147EBA">
              <a:alpha val="15000"/>
            </a:srgbClr>
          </a:solidFill>
          <a:ln w="12700">
            <a:solidFill>
              <a:srgbClr val="147EBA"/>
            </a:solidFill>
          </a:ln>
        </p:spPr>
        <p:txBody>
          <a:bodyPr anchor="t" anchorCtr="0" lIns="91440" tIns="45720" rIns="91440" bIns="45720"/>
          <a:lstStyle/>
          <a:p>
            <a:endParaRPr lang="en-US"/>
          </a:p>
        </p:txBody>
      </p:sp>
      <p:sp>
        <p:nvSpPr>
          <p:cNvPr id="31" name="priv1_label"/>
          <p:cNvSpPr txBox="1"/>
          <p:nvPr/>
        </p:nvSpPr>
        <p:spPr>
          <a:xfrm>
            <a:off x="2057400" y="41148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800" b="1" dirty="0">
                <a:solidFill>
                  <a:srgbClr val="147EBA"/>
                </a:solidFill>
                <a:latin typeface="Amazon Ember"/>
              </a:rPr>
              <a:t>Private Subnet</a:t>
            </a:r>
          </a:p>
        </p:txBody>
      </p:sp>
      <p:sp>
        <p:nvSpPr>
          <p:cNvPr id="33" name="PrivateSubnet2"/>
          <p:cNvSpPr/>
          <p:nvPr/>
        </p:nvSpPr>
        <p:spPr>
          <a:xfrm>
            <a:off x="6629400" y="4069080"/>
            <a:ext cx="4206240" cy="1920240"/>
          </a:xfrm>
          <a:prstGeom prst="roundRect">
            <a:avLst>
              <a:gd name="adj" fmla="val 3000"/>
            </a:avLst>
          </a:prstGeom>
          <a:solidFill>
            <a:srgbClr val="147EBA">
              <a:alpha val="15000"/>
            </a:srgbClr>
          </a:solidFill>
          <a:ln w="12700">
            <a:solidFill>
              <a:srgbClr val="147EBA"/>
            </a:solidFill>
          </a:ln>
        </p:spPr>
        <p:txBody>
          <a:bodyPr anchor="t" anchorCtr="0" lIns="91440" tIns="45720" rIns="91440" bIns="45720"/>
          <a:lstStyle/>
          <a:p>
            <a:endParaRPr lang="en-US"/>
          </a:p>
        </p:txBody>
      </p:sp>
      <p:sp>
        <p:nvSpPr>
          <p:cNvPr id="34" name="priv2_label"/>
          <p:cNvSpPr txBox="1"/>
          <p:nvPr/>
        </p:nvSpPr>
        <p:spPr>
          <a:xfrm>
            <a:off x="6720840" y="41148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800" b="1" dirty="0">
                <a:solidFill>
                  <a:srgbClr val="147EBA"/>
                </a:solidFill>
                <a:latin typeface="Amazon Ember"/>
              </a:rPr>
              <a:t>Private Subnet</a:t>
            </a:r>
          </a:p>
        </p:txBody>
      </p:sp>
      <p:sp>
        <p:nvSpPr>
          <p:cNvPr id="36" name="IGW_icon"/>
          <p:cNvSpPr/>
          <p:nvPr/>
        </p:nvSpPr>
        <p:spPr>
          <a:xfrm>
            <a:off x="6217920" y="14173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8C4FFF">
              <a:alpha val="25000"/>
            </a:srgbClr>
          </a:solidFill>
          <a:ln w="19050">
            <a:solidFill>
              <a:srgbClr val="8C4FFF"/>
            </a:solidFill>
          </a:ln>
        </p:spPr>
        <p:txBody>
          <a:bodyPr anchor="ctr" anchorCtr="1"/>
          <a:lstStyle/>
          <a:p>
            <a:pPr algn="ctr"/>
            <a:r>
              <a:rPr lang="en-US" sz="900" b="1" dirty="0">
                <a:solidFill>
                  <a:srgbClr val="8C4FFF"/>
                </a:solidFill>
                <a:latin typeface="Amazon Ember"/>
              </a:rPr>
              <a:t>IGW</a:t>
            </a:r>
          </a:p>
        </p:txBody>
      </p:sp>
      <p:sp>
        <p:nvSpPr>
          <p:cNvPr id="37" name="IGW_label"/>
          <p:cNvSpPr txBox="1"/>
          <p:nvPr/>
        </p:nvSpPr>
        <p:spPr>
          <a:xfrm>
            <a:off x="6035040" y="1920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Amazon Ember"/>
              </a:rPr>
              <a:t>Internet Gateway</a:t>
            </a:r>
          </a:p>
        </p:txBody>
      </p:sp>
      <p:sp>
        <p:nvSpPr>
          <p:cNvPr id="38" name="ALB_icon"/>
          <p:cNvSpPr/>
          <p:nvPr/>
        </p:nvSpPr>
        <p:spPr>
          <a:xfrm>
            <a:off x="6217920" y="27889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9900">
              <a:alpha val="25000"/>
            </a:srgbClr>
          </a:solidFill>
          <a:ln w="19050">
            <a:solidFill>
              <a:srgbClr val="FF9900"/>
            </a:solidFill>
          </a:ln>
        </p:spPr>
        <p:txBody>
          <a:bodyPr anchor="ctr" anchorCtr="1"/>
          <a:lstStyle/>
          <a:p>
            <a:pPr algn="ctr"/>
            <a:r>
              <a:rPr lang="en-US" sz="900" b="1" dirty="0">
                <a:solidFill>
                  <a:srgbClr val="FF9900"/>
                </a:solidFill>
                <a:latin typeface="Amazon Ember"/>
              </a:rPr>
              <a:t>ALB</a:t>
            </a:r>
          </a:p>
        </p:txBody>
      </p:sp>
      <p:sp>
        <p:nvSpPr>
          <p:cNvPr id="39" name="ALB_label"/>
          <p:cNvSpPr txBox="1"/>
          <p:nvPr/>
        </p:nvSpPr>
        <p:spPr>
          <a:xfrm>
            <a:off x="6035040" y="32918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Amazon Ember"/>
              </a:rPr>
              <a:t>Application Load Balancer</a:t>
            </a:r>
          </a:p>
        </p:txBody>
      </p:sp>
      <p:sp>
        <p:nvSpPr>
          <p:cNvPr id="40" name="NAT1_icon"/>
          <p:cNvSpPr/>
          <p:nvPr/>
        </p:nvSpPr>
        <p:spPr>
          <a:xfrm>
            <a:off x="5440680" y="30632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8542">
              <a:alpha val="25000"/>
            </a:srgbClr>
          </a:solidFill>
          <a:ln w="19050">
            <a:solidFill>
              <a:srgbClr val="1A8542"/>
            </a:solidFill>
          </a:ln>
        </p:spPr>
        <p:txBody>
          <a:bodyPr anchor="ctr" anchorCtr="1"/>
          <a:lstStyle/>
          <a:p>
            <a:pPr algn="ctr"/>
            <a:r>
              <a:rPr lang="en-US" sz="900" b="1" dirty="0">
                <a:solidFill>
                  <a:srgbClr val="1A8542"/>
                </a:solidFill>
                <a:latin typeface="Amazon Ember"/>
              </a:rPr>
              <a:t>NAT</a:t>
            </a:r>
          </a:p>
        </p:txBody>
      </p:sp>
      <p:sp>
        <p:nvSpPr>
          <p:cNvPr id="41" name="NAT1_label"/>
          <p:cNvSpPr txBox="1"/>
          <p:nvPr/>
        </p:nvSpPr>
        <p:spPr>
          <a:xfrm>
            <a:off x="5257800" y="35661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Amazon Ember"/>
              </a:rPr>
              <a:t>NAT Gateway</a:t>
            </a:r>
          </a:p>
        </p:txBody>
      </p:sp>
      <p:sp>
        <p:nvSpPr>
          <p:cNvPr id="42" name="NAT2_icon"/>
          <p:cNvSpPr/>
          <p:nvPr/>
        </p:nvSpPr>
        <p:spPr>
          <a:xfrm>
            <a:off x="10104120" y="30632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8542">
              <a:alpha val="25000"/>
            </a:srgbClr>
          </a:solidFill>
          <a:ln w="19050">
            <a:solidFill>
              <a:srgbClr val="1A8542"/>
            </a:solidFill>
          </a:ln>
        </p:spPr>
        <p:txBody>
          <a:bodyPr anchor="ctr" anchorCtr="1"/>
          <a:lstStyle/>
          <a:p>
            <a:pPr algn="ctr"/>
            <a:r>
              <a:rPr lang="en-US" sz="900" b="1" dirty="0">
                <a:solidFill>
                  <a:srgbClr val="1A8542"/>
                </a:solidFill>
                <a:latin typeface="Amazon Ember"/>
              </a:rPr>
              <a:t>NAT</a:t>
            </a:r>
          </a:p>
        </p:txBody>
      </p:sp>
      <p:sp>
        <p:nvSpPr>
          <p:cNvPr id="43" name="NAT2_label"/>
          <p:cNvSpPr txBox="1"/>
          <p:nvPr/>
        </p:nvSpPr>
        <p:spPr>
          <a:xfrm>
            <a:off x="9921240" y="35661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Amazon Ember"/>
              </a:rPr>
              <a:t>NAT Gateway</a:t>
            </a:r>
          </a:p>
        </p:txBody>
      </p:sp>
      <p:sp>
        <p:nvSpPr>
          <p:cNvPr id="44" name="ECS1_icon"/>
          <p:cNvSpPr/>
          <p:nvPr/>
        </p:nvSpPr>
        <p:spPr>
          <a:xfrm>
            <a:off x="3840480" y="46177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9900">
              <a:alpha val="25000"/>
            </a:srgbClr>
          </a:solidFill>
          <a:ln w="19050">
            <a:solidFill>
              <a:srgbClr val="FF9900"/>
            </a:solidFill>
          </a:ln>
        </p:spPr>
        <p:txBody>
          <a:bodyPr anchor="ctr" anchorCtr="1"/>
          <a:lstStyle/>
          <a:p>
            <a:pPr algn="ctr"/>
            <a:r>
              <a:rPr lang="en-US" sz="900" b="1" dirty="0">
                <a:solidFill>
                  <a:srgbClr val="FF9900"/>
                </a:solidFill>
                <a:latin typeface="Amazon Ember"/>
              </a:rPr>
              <a:t>ECS</a:t>
            </a:r>
          </a:p>
        </p:txBody>
      </p:sp>
      <p:sp>
        <p:nvSpPr>
          <p:cNvPr id="45" name="ECS1_label"/>
          <p:cNvSpPr txBox="1"/>
          <p:nvPr/>
        </p:nvSpPr>
        <p:spPr>
          <a:xfrm>
            <a:off x="3657600" y="51206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Amazon Ember"/>
              </a:rPr>
              <a:t>ECS Task (EC2)</a:t>
            </a:r>
          </a:p>
        </p:txBody>
      </p:sp>
      <p:sp>
        <p:nvSpPr>
          <p:cNvPr id="46" name="ECS2_icon"/>
          <p:cNvSpPr/>
          <p:nvPr/>
        </p:nvSpPr>
        <p:spPr>
          <a:xfrm>
            <a:off x="8503920" y="46177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9900">
              <a:alpha val="25000"/>
            </a:srgbClr>
          </a:solidFill>
          <a:ln w="19050">
            <a:solidFill>
              <a:srgbClr val="FF9900"/>
            </a:solidFill>
          </a:ln>
        </p:spPr>
        <p:txBody>
          <a:bodyPr anchor="ctr" anchorCtr="1"/>
          <a:lstStyle/>
          <a:p>
            <a:pPr algn="ctr"/>
            <a:r>
              <a:rPr lang="en-US" sz="900" b="1" dirty="0">
                <a:solidFill>
                  <a:srgbClr val="FF9900"/>
                </a:solidFill>
                <a:latin typeface="Amazon Ember"/>
              </a:rPr>
              <a:t>ECS</a:t>
            </a:r>
          </a:p>
        </p:txBody>
      </p:sp>
      <p:sp>
        <p:nvSpPr>
          <p:cNvPr id="47" name="ECS2_label"/>
          <p:cNvSpPr txBox="1"/>
          <p:nvPr/>
        </p:nvSpPr>
        <p:spPr>
          <a:xfrm>
            <a:off x="8321040" y="51206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Amazon Ember"/>
              </a:rPr>
              <a:t>ECS Task (EC2)</a:t>
            </a:r>
          </a:p>
        </p:txBody>
      </p:sp>
      <p:sp>
        <p:nvSpPr>
          <p:cNvPr id="48" name="ECR_icon"/>
          <p:cNvSpPr/>
          <p:nvPr/>
        </p:nvSpPr>
        <p:spPr>
          <a:xfrm>
            <a:off x="640080" y="34290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9900">
              <a:alpha val="25000"/>
            </a:srgbClr>
          </a:solidFill>
          <a:ln w="19050">
            <a:solidFill>
              <a:srgbClr val="FF9900"/>
            </a:solidFill>
          </a:ln>
        </p:spPr>
        <p:txBody>
          <a:bodyPr anchor="ctr" anchorCtr="1"/>
          <a:lstStyle/>
          <a:p>
            <a:pPr algn="ctr"/>
            <a:r>
              <a:rPr lang="en-US" sz="900" b="1" dirty="0">
                <a:solidFill>
                  <a:srgbClr val="FF9900"/>
                </a:solidFill>
                <a:latin typeface="Amazon Ember"/>
              </a:rPr>
              <a:t>ECR</a:t>
            </a:r>
          </a:p>
        </p:txBody>
      </p:sp>
      <p:sp>
        <p:nvSpPr>
          <p:cNvPr id="49" name="ECR_label"/>
          <p:cNvSpPr txBox="1"/>
          <p:nvPr/>
        </p:nvSpPr>
        <p:spPr>
          <a:xfrm>
            <a:off x="457200" y="3931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Amazon Ember"/>
              </a:rPr>
              <a:t>Elastic Container Registry</a:t>
            </a:r>
          </a:p>
        </p:txBody>
      </p:sp>
      <p:cxnSp>
        <p:nvCxnSpPr>
          <p:cNvPr id="50" name="conn_inet_igw"/>
          <p:cNvCxnSpPr/>
          <p:nvPr/>
        </p:nvCxnSpPr>
        <p:spPr>
          <a:xfrm>
            <a:off x="6446520" y="731520"/>
            <a:ext cx="0" cy="685800"/>
          </a:xfrm>
          <a:prstGeom prst="straightConnector1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p:cxnSp>
        <p:nvCxnSpPr>
          <p:cNvPr id="51" name="conn_igw_alb"/>
          <p:cNvCxnSpPr/>
          <p:nvPr/>
        </p:nvCxnSpPr>
        <p:spPr>
          <a:xfrm>
            <a:off x="6446520" y="1874520"/>
            <a:ext cx="0" cy="914400"/>
          </a:xfrm>
          <a:prstGeom prst="straightConnector1">
            <a:avLst/>
          </a:prstGeom>
          <a:ln w="15875">
            <a:solidFill>
              <a:srgbClr val="FFFFFF"/>
            </a:solidFill>
            <a:tailEnd type="triangle" w="med" len="med"/>
          </a:ln>
        </p:spPr>
      </p:cxnSp>
      <p:cxnSp>
        <p:nvCxnSpPr>
          <p:cNvPr id="52" name="conn_alb_ecs1"/>
          <p:cNvCxnSpPr/>
          <p:nvPr/>
        </p:nvCxnSpPr>
        <p:spPr>
          <a:xfrm flipH="1">
            <a:off x="4069080" y="3246120"/>
            <a:ext cx="2377440" cy="1371600"/>
          </a:xfrm>
          <a:prstGeom prst="straightConnector1">
            <a:avLst/>
          </a:prstGeom>
          <a:ln w="15875">
            <a:solidFill>
              <a:srgbClr val="FF9900"/>
            </a:solidFill>
            <a:tailEnd type="triangle" w="med" len="med"/>
          </a:ln>
        </p:spPr>
      </p:cxnSp>
      <p:cxnSp>
        <p:nvCxnSpPr>
          <p:cNvPr id="53" name="conn_alb_ecs2"/>
          <p:cNvCxnSpPr/>
          <p:nvPr/>
        </p:nvCxnSpPr>
        <p:spPr>
          <a:xfrm>
            <a:off x="6446520" y="3246120"/>
            <a:ext cx="2286000" cy="1371600"/>
          </a:xfrm>
          <a:prstGeom prst="straightConnector1">
            <a:avLst/>
          </a:prstGeom>
          <a:ln w="15875">
            <a:solidFill>
              <a:srgbClr val="FF9900"/>
            </a:solidFill>
            <a:tailEnd type="triangle" w="med" len="med"/>
          </a:ln>
        </p:spPr>
      </p:cxnSp>
      <p:cxnSp>
        <p:nvCxnSpPr>
          <p:cNvPr id="54" name="conn_ecs1_nat1"/>
          <p:cNvCxnSpPr/>
          <p:nvPr/>
        </p:nvCxnSpPr>
        <p:spPr>
          <a:xfrm flipV="1">
            <a:off x="4069080" y="3520440"/>
            <a:ext cx="1600200" cy="1097280"/>
          </a:xfrm>
          <a:prstGeom prst="straightConnector1">
            <a:avLst/>
          </a:prstGeom>
          <a:ln w="12700">
            <a:solidFill>
              <a:srgbClr val="1A8542"/>
            </a:solidFill>
            <a:prstDash val="dash"/>
            <a:tailEnd type="triangle" w="med" len="med"/>
          </a:ln>
        </p:spPr>
      </p:cxnSp>
      <p:cxnSp>
        <p:nvCxnSpPr>
          <p:cNvPr id="55" name="conn_ecs2_nat2"/>
          <p:cNvCxnSpPr/>
          <p:nvPr/>
        </p:nvCxnSpPr>
        <p:spPr>
          <a:xfrm flipV="1">
            <a:off x="8732520" y="3520440"/>
            <a:ext cx="1600200" cy="1097280"/>
          </a:xfrm>
          <a:prstGeom prst="straightConnector1">
            <a:avLst/>
          </a:prstGeom>
          <a:ln w="12700">
            <a:solidFill>
              <a:srgbClr val="1A8542"/>
            </a:solidFill>
            <a:prstDash val="dash"/>
            <a:tailEnd type="triangle" w="med" len="med"/>
          </a:ln>
        </p:spPr>
      </p:cxnSp>
      <p:cxnSp>
        <p:nvCxnSpPr>
          <p:cNvPr id="56" name="conn_ecr_ecs1"/>
          <p:cNvCxnSpPr/>
          <p:nvPr/>
        </p:nvCxnSpPr>
        <p:spPr>
          <a:xfrm>
            <a:off x="1097280" y="3657600"/>
            <a:ext cx="2743200" cy="1188720"/>
          </a:xfrm>
          <a:prstGeom prst="straightConnector1">
            <a:avLst/>
          </a:prstGeom>
          <a:ln w="9525">
            <a:solidFill>
              <a:srgbClr val="D5DBDB"/>
            </a:solidFill>
            <a:prstDash val="dash"/>
            <a:tailEnd type="triangle" w="med" len="med"/>
          </a:ln>
        </p:spPr>
      </p:cxnSp>
      <p:cxnSp>
        <p:nvCxnSpPr>
          <p:cNvPr id="57" name="conn_ecr_ecs2"/>
          <p:cNvCxnSpPr/>
          <p:nvPr/>
        </p:nvCxnSpPr>
        <p:spPr>
          <a:xfrm>
            <a:off x="1097280" y="3657600"/>
            <a:ext cx="7406640" cy="1188720"/>
          </a:xfrm>
          <a:prstGeom prst="straightConnector1">
            <a:avLst/>
          </a:prstGeom>
          <a:ln w="9525">
            <a:solidFill>
              <a:srgbClr val="D5DBDB"/>
            </a:solidFill>
            <a:prstDash val="dash"/>
            <a:tailEnd type="triangle" w="med" len="med"/>
          </a:ln>
        </p:spPr>
      </p:cxnSp>
      <p:sp>
        <p:nvSpPr>
          <p:cNvPr id="58" name="Users_icon"/>
          <p:cNvSpPr/>
          <p:nvPr/>
        </p:nvSpPr>
        <p:spPr>
          <a:xfrm>
            <a:off x="6217920" y="914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527FFF">
              <a:alpha val="25000"/>
            </a:srgbClr>
          </a:solidFill>
          <a:ln w="19050">
            <a:solidFill>
              <a:srgbClr val="527FFF"/>
            </a:solidFill>
          </a:ln>
        </p:spPr>
        <p:txBody>
          <a:bodyPr anchor="ctr" anchorCtr="1"/>
          <a:lstStyle/>
          <a:p>
            <a:pPr algn="ctr"/>
            <a:r>
              <a:rPr lang="en-US" sz="900" b="1" dirty="0">
                <a:solidFill>
                  <a:srgbClr val="527FFF"/>
                </a:solidFill>
                <a:latin typeface="Amazon Ember"/>
              </a:rPr>
              <a:t>🌐</a:t>
            </a:r>
          </a:p>
        </p:txBody>
      </p:sp>
      <p:sp>
        <p:nvSpPr>
          <p:cNvPr id="59" name="Users_label"/>
          <p:cNvSpPr txBox="1"/>
          <p:nvPr/>
        </p:nvSpPr>
        <p:spPr>
          <a:xfrm>
            <a:off x="6035040" y="5943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Amazon Ember"/>
              </a:rPr>
              <a:t>Users / Internet</a:t>
            </a:r>
          </a:p>
        </p:txBody>
      </p:sp>
      <p:sp>
        <p:nvSpPr>
          <p:cNvPr id="60" name="legend_title"/>
          <p:cNvSpPr txBox="1"/>
          <p:nvPr/>
        </p:nvSpPr>
        <p:spPr>
          <a:xfrm>
            <a:off x="9235440" y="8229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Amazon Ember"/>
              </a:rPr>
              <a:t>Legend:</a:t>
            </a:r>
          </a:p>
        </p:txBody>
      </p:sp>
      <p:sp>
        <p:nvSpPr>
          <p:cNvPr id="62" name="legend1"/>
          <p:cNvSpPr txBox="1"/>
          <p:nvPr/>
        </p:nvSpPr>
        <p:spPr>
          <a:xfrm>
            <a:off x="9235440" y="105156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700" dirty="0">
                <a:solidFill>
                  <a:srgbClr val="1A8542"/>
                </a:solidFill>
                <a:latin typeface="Amazon Ember"/>
              </a:rPr>
              <a:t>■ Public Subnet (Green)</a:t>
            </a:r>
          </a:p>
        </p:txBody>
      </p:sp>
      <p:sp>
        <p:nvSpPr>
          <p:cNvPr id="64" name="legend2"/>
          <p:cNvSpPr txBox="1"/>
          <p:nvPr/>
        </p:nvSpPr>
        <p:spPr>
          <a:xfrm>
            <a:off x="9235440" y="123444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700" dirty="0">
                <a:solidFill>
                  <a:srgbClr val="147EBA"/>
                </a:solidFill>
                <a:latin typeface="Amazon Ember"/>
              </a:rPr>
              <a:t>■ Private Subnet (Blue)</a:t>
            </a:r>
          </a:p>
        </p:txBody>
      </p:sp>
      <p:sp>
        <p:nvSpPr>
          <p:cNvPr id="66" name="legend3"/>
          <p:cNvSpPr txBox="1"/>
          <p:nvPr/>
        </p:nvSpPr>
        <p:spPr>
          <a:xfrm>
            <a:off x="9235440" y="141732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700" dirty="0">
                <a:solidFill>
                  <a:srgbClr val="1A8542"/>
                </a:solidFill>
                <a:latin typeface="Amazon Ember"/>
              </a:rPr>
              <a:t>--- Outbound traffic (NAT)</a:t>
            </a:r>
          </a:p>
        </p:txBody>
      </p:sp>
      <p:sp>
        <p:nvSpPr>
          <p:cNvPr id="68" name="legend4"/>
          <p:cNvSpPr txBox="1"/>
          <p:nvPr/>
        </p:nvSpPr>
        <p:spPr>
          <a:xfrm>
            <a:off x="9235440" y="160020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/>
            <a:r>
              <a:rPr lang="en-US" sz="700" dirty="0">
                <a:solidFill>
                  <a:srgbClr val="FF9900"/>
                </a:solidFill>
                <a:latin typeface="Amazon Ember"/>
              </a:rPr>
              <a:t>→ Inbound traffic (ALB)</a:t>
            </a:r>
          </a:p>
        </p:txBody>
      </p:sp>
    </p:spTree>
  </p:cSld>
</p:sld>
</file>

<file path=ppt/theme/theme1.xml><?xml version="1.0" encoding="utf-8"?>
<a:theme xmlns:a="http://schemas.openxmlformats.org/drawingml/2006/main" name="AWS Dark Theme">
  <a:themeElements>
    <a:clrScheme name="AWS Dark">
      <a:dk1>
        <a:srgbClr val="232F3E"/>
      </a:dk1>
      <a:lt1>
        <a:srgbClr val="FFFFFF"/>
      </a:lt1>
      <a:dk2>
        <a:srgbClr val="161E2D"/>
      </a:dk2>
      <a:lt2>
        <a:srgbClr val="D5DBDB"/>
      </a:lt2>
      <a:accent1>
        <a:srgbClr val="FF9900"/>
      </a:accent1>
      <a:accent2>
        <a:srgbClr val="1A8542"/>
      </a:accent2>
      <a:accent3>
        <a:srgbClr val="147EBA"/>
      </a:accent3>
      <a:accent4>
        <a:srgbClr val="527FFF"/>
      </a:accent4>
      <a:accent5>
        <a:srgbClr val="8C4FFF"/>
      </a:accent5>
      <a:accent6>
        <a:srgbClr val="E7157B"/>
      </a:accent6>
      <a:hlink>
        <a:srgbClr val="FF9900"/>
      </a:hlink>
      <a:folHlink>
        <a:srgbClr val="527FFF"/>
      </a:folHlink>
    </a:clrScheme>
    <a:fontScheme name="AWS">
      <a:majorFont>
        <a:latin typeface="Amazon Ember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